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7" r:id="rId2"/>
    <p:sldId id="273" r:id="rId3"/>
    <p:sldId id="276" r:id="rId4"/>
    <p:sldId id="27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693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1E95C-BA75-A9A5-9CE2-54DAEAA7B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2EAB48-87E5-27DE-2F12-668576021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FCAF0-D352-AFA4-B9FE-44D07E95D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C1C10-148F-182B-F255-EB2D6F529D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63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9CC8-32F3-7FEB-A9E0-B23B884C3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9BD234-1E29-E690-D9E6-2615921EF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0FDB6-E763-9319-2204-CC8D011F0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C8B15-BF88-9965-5001-10FB5D6B7D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36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5E8BE-EF0B-CC3A-7F41-5E043C52C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E07A4-861B-5BF0-7B9C-824EAF6733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B2FF5-2D06-474E-00CA-6AB7D979D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70A8D-9CE9-22EF-3608-06459FBCA3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66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44600"/>
            <a:ext cx="10477500" cy="3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3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85315"/>
            <a:ext cx="10566400" cy="415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44600"/>
            <a:ext cx="10477500" cy="3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3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85315"/>
            <a:ext cx="10566400" cy="415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03300" cy="304800"/>
          </a:xfrm>
          <a:prstGeom prst="rect">
            <a:avLst/>
          </a:prstGeom>
          <a:solidFill>
            <a:srgbClr val="00B1D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b="1" kern="0" spc="25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Laboratorio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44600"/>
            <a:ext cx="10791825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Casos y defectos sobre un campo de tu proyecto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2800" y="1707517"/>
            <a:ext cx="10791825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3D47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Trabaja sobre tu proyecto; puedes explorar en pares, pero el documento es individual. Lo que produces es una parte del documento de casos de la Semana 2.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15975" y="2024379"/>
            <a:ext cx="10560050" cy="534670"/>
          </a:xfrm>
          <a:prstGeom prst="roundRect">
            <a:avLst>
              <a:gd name="adj" fmla="val 16033"/>
            </a:avLst>
          </a:prstGeom>
          <a:solidFill>
            <a:srgbClr val="FFFFFF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982980" y="2140589"/>
            <a:ext cx="3683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0B1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40180" y="2140589"/>
            <a:ext cx="9483725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Elige y analiza (15 min).</a:t>
            </a:r>
            <a:r>
              <a:rPr lang="en-US" sz="1050" dirty="0">
                <a:solidFill>
                  <a:srgbClr val="3D47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Elige un campo con regla (edad, cantidad, longitud, fecha). Escribe la regla y sus clases de equivalencia.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15975" y="2641600"/>
            <a:ext cx="10560050" cy="534670"/>
          </a:xfrm>
          <a:prstGeom prst="roundRect">
            <a:avLst>
              <a:gd name="adj" fmla="val 16033"/>
            </a:avLst>
          </a:prstGeom>
          <a:solidFill>
            <a:srgbClr val="FFFFFF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982980" y="2757804"/>
            <a:ext cx="3683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0B1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40180" y="2757804"/>
            <a:ext cx="9483725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Diseña y ejecuta (25 min).</a:t>
            </a:r>
            <a:r>
              <a:rPr lang="en-US" sz="1050" dirty="0">
                <a:solidFill>
                  <a:srgbClr val="3D47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Escribe al menos 8 </a:t>
            </a:r>
            <a:r>
              <a:rPr lang="en-US" sz="1050" dirty="0" err="1">
                <a:solidFill>
                  <a:srgbClr val="3D47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escenarios</a:t>
            </a:r>
            <a:r>
              <a:rPr lang="en-US" sz="1050" dirty="0">
                <a:solidFill>
                  <a:srgbClr val="3D47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 clases y límites. Ejecútalos y anota el </a:t>
            </a:r>
            <a:r>
              <a:rPr lang="en-US" sz="1050" dirty="0" err="1">
                <a:solidFill>
                  <a:srgbClr val="3D47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</a:t>
            </a:r>
            <a:r>
              <a:rPr lang="en-US" sz="1050" dirty="0">
                <a:solidFill>
                  <a:srgbClr val="3D47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obtenido.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5975" y="3258821"/>
            <a:ext cx="10560050" cy="534670"/>
          </a:xfrm>
          <a:prstGeom prst="roundRect">
            <a:avLst>
              <a:gd name="adj" fmla="val 16033"/>
            </a:avLst>
          </a:prstGeom>
          <a:solidFill>
            <a:srgbClr val="FFFFFF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982980" y="3375025"/>
            <a:ext cx="3683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0B1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40180" y="3375025"/>
            <a:ext cx="9483725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Reporta y clasifica (10 min).</a:t>
            </a:r>
            <a:r>
              <a:rPr lang="en-US" sz="1050" dirty="0">
                <a:solidFill>
                  <a:srgbClr val="3D47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Redacta hasta 2 defectos con severidad y prioridad.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5975" y="3876042"/>
            <a:ext cx="10560050" cy="534670"/>
          </a:xfrm>
          <a:prstGeom prst="roundRect">
            <a:avLst>
              <a:gd name="adj" fmla="val 16033"/>
            </a:avLst>
          </a:prstGeom>
          <a:solidFill>
            <a:srgbClr val="FFFFFF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982980" y="3992246"/>
            <a:ext cx="3683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0B1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40180" y="3992246"/>
            <a:ext cx="9483725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 con IA (10 min).</a:t>
            </a:r>
            <a:r>
              <a:rPr lang="en-US" sz="1050" dirty="0">
                <a:solidFill>
                  <a:srgbClr val="3D47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Pide a la IA que revise tu cobertura y decide qué agregas.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2800" y="4540889"/>
            <a:ext cx="10566400" cy="466090"/>
          </a:xfrm>
          <a:prstGeom prst="roundRect">
            <a:avLst>
              <a:gd name="adj" fmla="val 19074"/>
            </a:avLst>
          </a:prstGeom>
          <a:solidFill>
            <a:srgbClr val="00B1DF"/>
          </a:solidFill>
          <a:ln/>
        </p:spPr>
        <p:txBody>
          <a:bodyPr wrap="square" lIns="177162" tIns="113662" rIns="0" bIns="88262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🔑 Imprescindible:</a:t>
            </a: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guarda todo en docs/casos-manuales-v1.md y haz commit con push. ¿Sin proyecto? Usa la calculadora BMI o el login; el Excel de ejercicios te guía.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078528" y="6118864"/>
            <a:ext cx="6046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B1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Tecsup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43666" y="6344921"/>
            <a:ext cx="538734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600" b="1" kern="0" spc="150" dirty="0">
                <a:solidFill>
                  <a:srgbClr val="9AA3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VIRTUAL</a:t>
            </a:r>
            <a:endParaRPr lang="en-US" sz="600" dirty="0"/>
          </a:p>
        </p:txBody>
      </p:sp>
      <p:sp>
        <p:nvSpPr>
          <p:cNvPr id="25" name="Shape 4"/>
          <p:cNvSpPr/>
          <p:nvPr/>
        </p:nvSpPr>
        <p:spPr>
          <a:xfrm>
            <a:off x="10570528" y="6108700"/>
            <a:ext cx="406400" cy="57150"/>
          </a:xfrm>
          <a:prstGeom prst="rect">
            <a:avLst/>
          </a:prstGeom>
          <a:solidFill>
            <a:srgbClr val="8BD7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Shape 5"/>
          <p:cNvSpPr/>
          <p:nvPr/>
        </p:nvSpPr>
        <p:spPr>
          <a:xfrm>
            <a:off x="10570528" y="6203950"/>
            <a:ext cx="406400" cy="57150"/>
          </a:xfrm>
          <a:prstGeom prst="rect">
            <a:avLst/>
          </a:prstGeom>
          <a:solidFill>
            <a:srgbClr val="8BD7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7" name="Shape 6"/>
          <p:cNvSpPr/>
          <p:nvPr/>
        </p:nvSpPr>
        <p:spPr>
          <a:xfrm>
            <a:off x="10573456" y="6299200"/>
            <a:ext cx="215900" cy="57150"/>
          </a:xfrm>
          <a:prstGeom prst="rect">
            <a:avLst/>
          </a:prstGeom>
          <a:solidFill>
            <a:srgbClr val="00B1D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8" name="Shape 7"/>
          <p:cNvSpPr/>
          <p:nvPr/>
        </p:nvSpPr>
        <p:spPr>
          <a:xfrm>
            <a:off x="10573456" y="6394450"/>
            <a:ext cx="215900" cy="57150"/>
          </a:xfrm>
          <a:prstGeom prst="rect">
            <a:avLst/>
          </a:prstGeom>
          <a:solidFill>
            <a:srgbClr val="00B1DF"/>
          </a:solidFill>
          <a:ln/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CE876-ABE6-40A0-928A-86C3750E9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B8468EC6-2F96-B2C0-3A10-54F417727681}"/>
              </a:ext>
            </a:extLst>
          </p:cNvPr>
          <p:cNvSpPr/>
          <p:nvPr/>
        </p:nvSpPr>
        <p:spPr>
          <a:xfrm>
            <a:off x="815974" y="1940322"/>
            <a:ext cx="10262553" cy="3232706"/>
          </a:xfrm>
          <a:prstGeom prst="roundRect">
            <a:avLst>
              <a:gd name="adj" fmla="val 2652"/>
            </a:avLst>
          </a:prstGeom>
          <a:solidFill>
            <a:srgbClr val="FFFFFF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2DF462F-6D85-7C25-D4F3-ED26EF7681C1}"/>
              </a:ext>
            </a:extLst>
          </p:cNvPr>
          <p:cNvSpPr/>
          <p:nvPr/>
        </p:nvSpPr>
        <p:spPr>
          <a:xfrm>
            <a:off x="1008380" y="2069227"/>
            <a:ext cx="4960315" cy="187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45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Sauce Demo - </a:t>
            </a:r>
            <a:r>
              <a:rPr lang="es-PE" sz="900" b="1" dirty="0" err="1">
                <a:solidFill>
                  <a:srgbClr val="000000"/>
                </a:solidFill>
                <a:latin typeface="IBM Plex Sans" pitchFamily="34" charset="0"/>
              </a:rPr>
              <a:t>Checkout</a:t>
            </a:r>
            <a:r>
              <a:rPr lang="es-PE" sz="900" b="1" dirty="0">
                <a:solidFill>
                  <a:srgbClr val="000000"/>
                </a:solidFill>
                <a:latin typeface="IBM Plex Sans" pitchFamily="34" charset="0"/>
              </a:rPr>
              <a:t>: </a:t>
            </a:r>
            <a:r>
              <a:rPr lang="es-PE" sz="900" b="1" dirty="0" err="1">
                <a:solidFill>
                  <a:srgbClr val="000000"/>
                </a:solidFill>
                <a:latin typeface="IBM Plex Sans" pitchFamily="34" charset="0"/>
              </a:rPr>
              <a:t>Your</a:t>
            </a:r>
            <a:r>
              <a:rPr lang="es-PE" sz="900" b="1" dirty="0">
                <a:solidFill>
                  <a:srgbClr val="000000"/>
                </a:solidFill>
                <a:latin typeface="IBM Plex Sans" pitchFamily="34" charset="0"/>
              </a:rPr>
              <a:t> </a:t>
            </a:r>
            <a:r>
              <a:rPr lang="es-PE" sz="900" b="1" dirty="0" err="1">
                <a:solidFill>
                  <a:srgbClr val="000000"/>
                </a:solidFill>
                <a:latin typeface="IBM Plex Sans" pitchFamily="34" charset="0"/>
              </a:rPr>
              <a:t>Information</a:t>
            </a:r>
            <a:endParaRPr lang="en-US" sz="945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08CC63C1-4357-4B9B-61B8-12AF31A75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21372"/>
              </p:ext>
            </p:extLst>
          </p:nvPr>
        </p:nvGraphicFramePr>
        <p:xfrm>
          <a:off x="916936" y="2318148"/>
          <a:ext cx="10161593" cy="3597196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563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6041">
                  <a:extLst>
                    <a:ext uri="{9D8B030D-6E8A-4147-A177-3AD203B41FA5}">
                      <a16:colId xmlns:a16="http://schemas.microsoft.com/office/drawing/2014/main" val="2752954417"/>
                    </a:ext>
                  </a:extLst>
                </a:gridCol>
                <a:gridCol w="2792945">
                  <a:extLst>
                    <a:ext uri="{9D8B030D-6E8A-4147-A177-3AD203B41FA5}">
                      <a16:colId xmlns:a16="http://schemas.microsoft.com/office/drawing/2014/main" val="616247286"/>
                    </a:ext>
                  </a:extLst>
                </a:gridCol>
              </a:tblGrid>
              <a:tr h="681276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/>
                        <a:t>Firstname</a:t>
                      </a:r>
                      <a:endParaRPr lang="en-US" sz="1500" b="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/>
                        <a:t>Last Name</a:t>
                      </a:r>
                      <a:endParaRPr lang="en-US" sz="1500" b="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Zip/ postal Code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Resultado esperado</a:t>
                      </a: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/>
                        <a:t>Juan 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Perez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123456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 err="1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correcto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/>
                        <a:t>Juan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 err="1"/>
                        <a:t>Incorrecto</a:t>
                      </a:r>
                      <a:r>
                        <a:rPr lang="en-US" sz="1500" dirty="0"/>
                        <a:t> (/*+.</a:t>
                      </a:r>
                      <a:r>
                        <a:rPr lang="en-US" sz="1500" dirty="0" err="1"/>
                        <a:t>números</a:t>
                      </a:r>
                      <a:r>
                        <a:rPr lang="en-US" sz="1500" dirty="0"/>
                        <a:t>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123456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50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Error: Last Name </a:t>
                      </a:r>
                      <a:r>
                        <a:rPr lang="es-PE" sz="150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is</a:t>
                      </a:r>
                      <a:r>
                        <a:rPr lang="es-PE" sz="150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PE" sz="150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invalid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/>
                        <a:t>Juan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Vacio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123456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50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Error: Last Name </a:t>
                      </a:r>
                      <a:r>
                        <a:rPr lang="es-PE" sz="150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is</a:t>
                      </a:r>
                      <a:r>
                        <a:rPr lang="es-PE" sz="150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PE" sz="150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required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err="1"/>
                        <a:t>Incorrecto</a:t>
                      </a:r>
                      <a:r>
                        <a:rPr lang="en-US" sz="1500" dirty="0"/>
                        <a:t> (/*+.</a:t>
                      </a:r>
                      <a:r>
                        <a:rPr lang="en-US" sz="1500" dirty="0" err="1"/>
                        <a:t>números</a:t>
                      </a:r>
                      <a:r>
                        <a:rPr lang="en-US" sz="1500" dirty="0"/>
                        <a:t>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Perez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123456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50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Error: First Name </a:t>
                      </a:r>
                      <a:r>
                        <a:rPr lang="es-PE" sz="150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is</a:t>
                      </a:r>
                      <a:r>
                        <a:rPr lang="es-PE" sz="150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PE" sz="150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invalid</a:t>
                      </a:r>
                      <a:endParaRPr lang="es-PE" sz="1500" kern="1200" dirty="0">
                        <a:solidFill>
                          <a:schemeClr val="dk1"/>
                        </a:solidFill>
                        <a:latin typeface="IBM Plex Sans" charset="0"/>
                        <a:ea typeface="+mn-ea"/>
                        <a:cs typeface="+mn-cs"/>
                      </a:endParaRP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Vacio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Perez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123456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50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Error: First Name </a:t>
                      </a:r>
                      <a:r>
                        <a:rPr lang="es-PE" sz="150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is</a:t>
                      </a:r>
                      <a:r>
                        <a:rPr lang="es-PE" sz="150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PE" sz="150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required</a:t>
                      </a:r>
                      <a:endParaRPr lang="es-PE" sz="1500" kern="1200" dirty="0">
                        <a:solidFill>
                          <a:schemeClr val="dk1"/>
                        </a:solidFill>
                        <a:latin typeface="IBM Plex Sans" charset="0"/>
                        <a:ea typeface="+mn-ea"/>
                        <a:cs typeface="+mn-cs"/>
                      </a:endParaRP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/>
                        <a:t>Juan 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Perez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Letras, /*-”#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50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Error: Postal Code </a:t>
                      </a:r>
                      <a:r>
                        <a:rPr lang="es-PE" sz="150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is</a:t>
                      </a:r>
                      <a:r>
                        <a:rPr lang="es-PE" sz="150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PE" sz="150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required</a:t>
                      </a:r>
                      <a:endParaRPr lang="es-PE" sz="1500" kern="1200" dirty="0">
                        <a:solidFill>
                          <a:schemeClr val="dk1"/>
                        </a:solidFill>
                        <a:latin typeface="IBM Plex Sans" charset="0"/>
                        <a:ea typeface="+mn-ea"/>
                        <a:cs typeface="+mn-cs"/>
                      </a:endParaRP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264597184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/>
                        <a:t>Juan 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Perez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Vacio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50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Error: Postal Code </a:t>
                      </a:r>
                      <a:r>
                        <a:rPr lang="es-PE" sz="150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is</a:t>
                      </a:r>
                      <a:r>
                        <a:rPr lang="es-PE" sz="150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PE" sz="150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required</a:t>
                      </a:r>
                      <a:endParaRPr lang="es-PE" sz="1500" kern="1200" dirty="0">
                        <a:solidFill>
                          <a:schemeClr val="dk1"/>
                        </a:solidFill>
                        <a:latin typeface="IBM Plex Sans" charset="0"/>
                        <a:ea typeface="+mn-ea"/>
                        <a:cs typeface="+mn-cs"/>
                      </a:endParaRP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1331117997"/>
                  </a:ext>
                </a:extLst>
              </a:tr>
            </a:tbl>
          </a:graphicData>
        </a:graphic>
      </p:graphicFrame>
      <p:sp>
        <p:nvSpPr>
          <p:cNvPr id="16" name="Text 12">
            <a:extLst>
              <a:ext uri="{FF2B5EF4-FFF2-40B4-BE49-F238E27FC236}">
                <a16:creationId xmlns:a16="http://schemas.microsoft.com/office/drawing/2014/main" id="{3A46EEF1-D559-9B2F-5086-E82D96F182A6}"/>
              </a:ext>
            </a:extLst>
          </p:cNvPr>
          <p:cNvSpPr/>
          <p:nvPr/>
        </p:nvSpPr>
        <p:spPr>
          <a:xfrm>
            <a:off x="11078528" y="6118861"/>
            <a:ext cx="6046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B1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Tecsup</a:t>
            </a:r>
            <a:endParaRPr lang="en-US" sz="12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EED8FE8-0680-E579-366A-E5C892CE3B4D}"/>
              </a:ext>
            </a:extLst>
          </p:cNvPr>
          <p:cNvSpPr/>
          <p:nvPr/>
        </p:nvSpPr>
        <p:spPr>
          <a:xfrm>
            <a:off x="11043666" y="6344921"/>
            <a:ext cx="538734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600" b="1" kern="0" spc="150" dirty="0">
                <a:solidFill>
                  <a:srgbClr val="9AA3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VIRTUAL</a:t>
            </a:r>
            <a:endParaRPr lang="en-US" sz="60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D7083091-A6C1-5A5F-2254-529CA27DB2EA}"/>
              </a:ext>
            </a:extLst>
          </p:cNvPr>
          <p:cNvSpPr/>
          <p:nvPr/>
        </p:nvSpPr>
        <p:spPr>
          <a:xfrm>
            <a:off x="10570528" y="6108700"/>
            <a:ext cx="406400" cy="57150"/>
          </a:xfrm>
          <a:prstGeom prst="rect">
            <a:avLst/>
          </a:prstGeom>
          <a:solidFill>
            <a:srgbClr val="8BD7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322482BE-E197-5086-8A8A-F31ECE92F0DB}"/>
              </a:ext>
            </a:extLst>
          </p:cNvPr>
          <p:cNvSpPr/>
          <p:nvPr/>
        </p:nvSpPr>
        <p:spPr>
          <a:xfrm>
            <a:off x="10570528" y="6203950"/>
            <a:ext cx="406400" cy="57150"/>
          </a:xfrm>
          <a:prstGeom prst="rect">
            <a:avLst/>
          </a:prstGeom>
          <a:solidFill>
            <a:srgbClr val="8BD7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DB997FF3-C6CE-33B6-2469-022363CA85ED}"/>
              </a:ext>
            </a:extLst>
          </p:cNvPr>
          <p:cNvSpPr/>
          <p:nvPr/>
        </p:nvSpPr>
        <p:spPr>
          <a:xfrm>
            <a:off x="10573456" y="6299200"/>
            <a:ext cx="215900" cy="57150"/>
          </a:xfrm>
          <a:prstGeom prst="rect">
            <a:avLst/>
          </a:prstGeom>
          <a:solidFill>
            <a:srgbClr val="00B1D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F7899128-B473-A1C7-7CC2-710B24433F5F}"/>
              </a:ext>
            </a:extLst>
          </p:cNvPr>
          <p:cNvSpPr/>
          <p:nvPr/>
        </p:nvSpPr>
        <p:spPr>
          <a:xfrm>
            <a:off x="10573456" y="6394450"/>
            <a:ext cx="215900" cy="57150"/>
          </a:xfrm>
          <a:prstGeom prst="rect">
            <a:avLst/>
          </a:prstGeom>
          <a:solidFill>
            <a:srgbClr val="00B1D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571C4D12-38E7-C158-FE08-FB15D88EFA83}"/>
              </a:ext>
            </a:extLst>
          </p:cNvPr>
          <p:cNvSpPr/>
          <p:nvPr/>
        </p:nvSpPr>
        <p:spPr>
          <a:xfrm>
            <a:off x="815975" y="1201419"/>
            <a:ext cx="10560050" cy="534670"/>
          </a:xfrm>
          <a:prstGeom prst="roundRect">
            <a:avLst>
              <a:gd name="adj" fmla="val 16033"/>
            </a:avLst>
          </a:prstGeom>
          <a:solidFill>
            <a:srgbClr val="FFFFFF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D9B0635C-0A56-1651-D5BD-C21CA259600C}"/>
              </a:ext>
            </a:extLst>
          </p:cNvPr>
          <p:cNvSpPr/>
          <p:nvPr/>
        </p:nvSpPr>
        <p:spPr>
          <a:xfrm>
            <a:off x="982980" y="1317629"/>
            <a:ext cx="3683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0B1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7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D2F61FD3-2350-37DF-3FD3-03ED4CA7D3C2}"/>
              </a:ext>
            </a:extLst>
          </p:cNvPr>
          <p:cNvSpPr/>
          <p:nvPr/>
        </p:nvSpPr>
        <p:spPr>
          <a:xfrm>
            <a:off x="1440180" y="1317629"/>
            <a:ext cx="9483725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Elige y analiza (15 min).</a:t>
            </a:r>
            <a:r>
              <a:rPr lang="en-US" sz="1050" dirty="0">
                <a:solidFill>
                  <a:srgbClr val="3D47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Elige un campo con regla (edad, cantidad, longitud, fecha). Escribe la regla y sus clases de equivalencia.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188904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33120-A710-AB14-A873-DFFA1B982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9EEC2FF-D4C2-80B8-E3D2-EAB27F2AD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181416"/>
            <a:ext cx="10791825" cy="241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r>
              <a:rPr lang="en-US" sz="1495" b="1" dirty="0"/>
              <a:t>C</a:t>
            </a:r>
            <a:r>
              <a:rPr lang="en-US" sz="1495" b="1" i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asos de prueba :Check your information </a:t>
            </a:r>
            <a:r>
              <a:rPr lang="en-US" sz="1495" b="1" dirty="0"/>
              <a:t>- https://www.saucedemo.com/</a:t>
            </a:r>
            <a:endParaRPr lang="en-US" sz="1495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69E2A9F2-430B-CBAC-E00A-A3634068A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952784"/>
              </p:ext>
            </p:extLst>
          </p:nvPr>
        </p:nvGraphicFramePr>
        <p:xfrm>
          <a:off x="822959" y="1423272"/>
          <a:ext cx="11017588" cy="5032219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921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9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0738">
                  <a:extLst>
                    <a:ext uri="{9D8B030D-6E8A-4147-A177-3AD203B41FA5}">
                      <a16:colId xmlns:a16="http://schemas.microsoft.com/office/drawing/2014/main" val="805224853"/>
                    </a:ext>
                  </a:extLst>
                </a:gridCol>
                <a:gridCol w="3628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219"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b="1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Código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b="1" dirty="0"/>
                        <a:t>Caso</a:t>
                      </a:r>
                      <a:endParaRPr lang="en-US" sz="1070" b="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b="1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Datos de entrada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b="1" dirty="0" err="1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Obtenido</a:t>
                      </a:r>
                      <a:endParaRPr lang="en-US" sz="1070" b="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b="1" dirty="0"/>
                        <a:t>Esperado</a:t>
                      </a:r>
                      <a:endParaRPr lang="en-US" sz="1070" b="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2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4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70" dirty="0"/>
                        <a:t>CP-SD-01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s-PE" sz="1100" dirty="0"/>
                        <a:t>Completar formulario con datos válidos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4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70" dirty="0"/>
                        <a:t>Juan/Perez/Luna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4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</a:rPr>
                        <a:t>Redirección exitosa a </a:t>
                      </a: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checkout-step-two.html</a:t>
                      </a:r>
                      <a:endParaRPr lang="en-US" sz="1070" kern="1200" dirty="0">
                        <a:solidFill>
                          <a:schemeClr val="dk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dirty="0"/>
                        <a:t>Se </a:t>
                      </a:r>
                      <a:r>
                        <a:rPr lang="en-US" sz="1070" dirty="0" err="1"/>
                        <a:t>acepta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</a:rPr>
                        <a:t>Redirección exitosa a </a:t>
                      </a: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checkout-step-two.html</a:t>
                      </a:r>
                      <a:endParaRPr lang="en-US" sz="1070" kern="1200" dirty="0">
                        <a:solidFill>
                          <a:schemeClr val="dk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3994549277"/>
                  </a:ext>
                </a:extLst>
              </a:tr>
              <a:tr h="353298"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dirty="0"/>
                        <a:t>CP-SD-02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dirty="0"/>
                        <a:t>Enviar formulario solo  con el nombre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Juan/</a:t>
                      </a:r>
                      <a:r>
                        <a:rPr lang="en-US" sz="1070" dirty="0" err="1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vacio</a:t>
                      </a:r>
                      <a:r>
                        <a:rPr lang="en-US" sz="107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/</a:t>
                      </a:r>
                      <a:r>
                        <a:rPr lang="en-US" sz="1070" dirty="0" err="1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vacio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4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Muestra mensaje de error: Error: Last Name </a:t>
                      </a:r>
                      <a:r>
                        <a:rPr lang="es-PE" sz="107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is</a:t>
                      </a: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PE" sz="107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required</a:t>
                      </a:r>
                      <a:endParaRPr lang="en-US" sz="1070" kern="1200" dirty="0">
                        <a:solidFill>
                          <a:schemeClr val="dk1"/>
                        </a:solidFill>
                        <a:latin typeface="IBM Plex Sans" charset="0"/>
                        <a:ea typeface="+mn-ea"/>
                        <a:cs typeface="+mn-cs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dirty="0" err="1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Rechazo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4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Muestra mensaje de error: Error: Last Name </a:t>
                      </a:r>
                      <a:r>
                        <a:rPr lang="es-PE" sz="107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is</a:t>
                      </a: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PE" sz="107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required</a:t>
                      </a:r>
                      <a:endParaRPr lang="en-US" sz="1070" kern="1200" dirty="0">
                        <a:solidFill>
                          <a:schemeClr val="dk1"/>
                        </a:solidFill>
                        <a:latin typeface="IBM Plex Sans" charset="0"/>
                        <a:ea typeface="+mn-ea"/>
                        <a:cs typeface="+mn-cs"/>
                      </a:endParaRP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298"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dirty="0"/>
                        <a:t>CP-SD-03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dirty="0"/>
                        <a:t>Enviar formulario solo  con el </a:t>
                      </a:r>
                      <a:r>
                        <a:rPr lang="en-US" sz="1070" dirty="0" err="1"/>
                        <a:t>apellido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dirty="0" err="1"/>
                        <a:t>vacio</a:t>
                      </a:r>
                      <a:r>
                        <a:rPr lang="en-US" sz="1070" dirty="0"/>
                        <a:t>/Perez/</a:t>
                      </a:r>
                      <a:r>
                        <a:rPr lang="en-US" sz="1070" dirty="0" err="1"/>
                        <a:t>vacio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Muestra mensaje de error: Error: First Name </a:t>
                      </a:r>
                      <a:r>
                        <a:rPr lang="es-PE" sz="107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is</a:t>
                      </a: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PE" sz="107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required</a:t>
                      </a: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.</a:t>
                      </a:r>
                      <a:endParaRPr lang="en-US" sz="1070" kern="1200" dirty="0">
                        <a:solidFill>
                          <a:schemeClr val="dk1"/>
                        </a:solidFill>
                        <a:latin typeface="IBM Plex Sans" charset="0"/>
                        <a:ea typeface="+mn-ea"/>
                        <a:cs typeface="+mn-cs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dirty="0" err="1"/>
                        <a:t>Rechazo</a:t>
                      </a:r>
                      <a:endParaRPr lang="en-US" sz="107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4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Muestra mensaje de error: Error: First Name </a:t>
                      </a:r>
                      <a:r>
                        <a:rPr lang="es-PE" sz="107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is</a:t>
                      </a: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PE" sz="107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required</a:t>
                      </a: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.</a:t>
                      </a:r>
                      <a:endParaRPr lang="en-US" sz="1070" kern="1200" dirty="0">
                        <a:solidFill>
                          <a:schemeClr val="dk1"/>
                        </a:solidFill>
                        <a:latin typeface="IBM Plex Sans" charset="0"/>
                        <a:ea typeface="+mn-ea"/>
                        <a:cs typeface="+mn-cs"/>
                      </a:endParaRP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298"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dirty="0"/>
                        <a:t>CP-SD-04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s-PE" sz="1100" dirty="0"/>
                        <a:t>Enviar formulario sin código Postal 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dirty="0"/>
                        <a:t>Juan/Perez/</a:t>
                      </a:r>
                      <a:r>
                        <a:rPr lang="en-US" sz="1070" dirty="0" err="1"/>
                        <a:t>vacio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Muestra mensaje de error: Error: Postal Code </a:t>
                      </a:r>
                      <a:r>
                        <a:rPr lang="es-PE" sz="107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is</a:t>
                      </a: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PE" sz="107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required</a:t>
                      </a: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.</a:t>
                      </a:r>
                      <a:endParaRPr lang="en-US" sz="1070" kern="1200" dirty="0">
                        <a:solidFill>
                          <a:schemeClr val="dk1"/>
                        </a:solidFill>
                        <a:latin typeface="IBM Plex Sans" charset="0"/>
                        <a:ea typeface="+mn-ea"/>
                        <a:cs typeface="+mn-cs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dirty="0" err="1"/>
                        <a:t>Rechazo</a:t>
                      </a:r>
                      <a:endParaRPr lang="en-US" sz="107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4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Muestra mensaje de error: Error: First Name </a:t>
                      </a:r>
                      <a:r>
                        <a:rPr lang="es-PE" sz="107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is</a:t>
                      </a: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PE" sz="1070" kern="1200" dirty="0" err="1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required</a:t>
                      </a:r>
                      <a:r>
                        <a:rPr lang="es-PE" sz="1070" kern="1200" dirty="0">
                          <a:solidFill>
                            <a:schemeClr val="dk1"/>
                          </a:solidFill>
                          <a:latin typeface="IBM Plex Sans" charset="0"/>
                          <a:ea typeface="+mn-ea"/>
                          <a:cs typeface="+mn-cs"/>
                        </a:rPr>
                        <a:t>.</a:t>
                      </a:r>
                      <a:endParaRPr lang="en-US" sz="1070" kern="1200" dirty="0">
                        <a:solidFill>
                          <a:schemeClr val="dk1"/>
                        </a:solidFill>
                        <a:latin typeface="IBM Plex Sans" charset="0"/>
                        <a:ea typeface="+mn-ea"/>
                        <a:cs typeface="+mn-cs"/>
                      </a:endParaRP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298"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dirty="0"/>
                        <a:t>CP-SD-05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dirty="0" err="1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Cancelar</a:t>
                      </a:r>
                      <a:r>
                        <a:rPr lang="en-US" sz="107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 </a:t>
                      </a:r>
                      <a:r>
                        <a:rPr lang="en-US" sz="1070" dirty="0" err="1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proceso</a:t>
                      </a:r>
                      <a:r>
                        <a:rPr lang="en-US" sz="107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 de </a:t>
                      </a:r>
                      <a:r>
                        <a:rPr lang="en-US" sz="1070" dirty="0" err="1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compra</a:t>
                      </a:r>
                      <a:r>
                        <a:rPr lang="en-US" sz="107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 </a:t>
                      </a:r>
                      <a:r>
                        <a:rPr lang="en-US" sz="1070" dirty="0" err="1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desde</a:t>
                      </a:r>
                      <a:r>
                        <a:rPr lang="en-US" sz="107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 Step One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4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70" dirty="0"/>
                        <a:t>Juan/Perez/Luna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s-ES" sz="107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Cancela el flujo de </a:t>
                      </a:r>
                      <a:r>
                        <a:rPr lang="es-ES" sz="1070" dirty="0" err="1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checkout</a:t>
                      </a:r>
                      <a:r>
                        <a:rPr lang="es-ES" sz="107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 y redirige al usuario a la vista del carrito (cart.html). Los productos permanecen en el carrito.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dirty="0"/>
                        <a:t>Se </a:t>
                      </a:r>
                      <a:r>
                        <a:rPr lang="en-US" sz="1070" dirty="0" err="1"/>
                        <a:t>acepta</a:t>
                      </a:r>
                      <a:endParaRPr lang="en-US" sz="107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4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7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Cancela el flujo de </a:t>
                      </a:r>
                      <a:r>
                        <a:rPr lang="es-ES" sz="1070" dirty="0" err="1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checkout</a:t>
                      </a:r>
                      <a:r>
                        <a:rPr lang="es-ES" sz="107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 y redirige al usuario a la vista del carrito (cart.html). Los productos permanecen en el carrito.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298"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dirty="0"/>
                        <a:t>CP-SD-06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s-ES" sz="107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Ingreso de caracteres especiales en blanco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s-PE" sz="1100" dirty="0"/>
                        <a:t>@#$ %^/  /!@#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s-PE" sz="1100" dirty="0"/>
                        <a:t>Permite avanzar si los campos contienen texto/espacios.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s-PE" sz="1100" dirty="0"/>
                        <a:t>Rechazo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s-PE" sz="1100" dirty="0"/>
                        <a:t>Validar restricciones de formato de nombres y código postal.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298"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dirty="0"/>
                        <a:t>CP-SD-07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s-PE" sz="1100" dirty="0"/>
                        <a:t>Ingreso de cadenas de texto muy largas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s-PE" sz="1100" dirty="0"/>
                        <a:t>Cadenas de 250+ caracteres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Permite avanzar si los campos si los campos tienen mas de 250 caracteres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s-PE" sz="1100" dirty="0"/>
                        <a:t>Rechazo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s-PE" sz="1100" dirty="0"/>
                        <a:t>El sistema no debe romperse ni desbordar la interfaz gráfica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298">
                <a:tc>
                  <a:txBody>
                    <a:bodyPr/>
                    <a:lstStyle/>
                    <a:p>
                      <a:pPr marL="0" indent="0">
                        <a:lnSpc>
                          <a:spcPts val="1498"/>
                        </a:lnSpc>
                        <a:buNone/>
                      </a:pPr>
                      <a:r>
                        <a:rPr lang="en-US" sz="1070" dirty="0"/>
                        <a:t>CP-SD-08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s-PE" sz="1100" dirty="0"/>
                        <a:t>Enviar formulario con todos los campos vacíos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s-PE" sz="1100" dirty="0"/>
                        <a:t>Campos vacíos</a:t>
                      </a:r>
                      <a:endParaRPr lang="en-US" sz="107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Error: First Name </a:t>
                      </a:r>
                      <a:r>
                        <a:rPr lang="es-PE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PE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required</a:t>
                      </a:r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 resalta los campos con icono de error.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s-PE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Error: First Name </a:t>
                      </a:r>
                      <a:r>
                        <a:rPr lang="es-PE" sz="105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es-PE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PE" sz="105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required</a:t>
                      </a:r>
                      <a:r>
                        <a:rPr lang="es-PE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 resalta los campos con icono de error.</a:t>
                      </a:r>
                      <a:endParaRPr lang="en-US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87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906A4-B645-2CB6-5625-615B0D218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36B701-2261-0685-83C6-D6C81F8EC18A}"/>
              </a:ext>
            </a:extLst>
          </p:cNvPr>
          <p:cNvSpPr/>
          <p:nvPr/>
        </p:nvSpPr>
        <p:spPr>
          <a:xfrm>
            <a:off x="812800" y="812800"/>
            <a:ext cx="727710" cy="222726"/>
          </a:xfrm>
          <a:prstGeom prst="rect">
            <a:avLst/>
          </a:prstGeom>
          <a:solidFill>
            <a:srgbClr val="00B1D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051E63-7CC9-2CEB-CD9C-4F909E5990BE}"/>
              </a:ext>
            </a:extLst>
          </p:cNvPr>
          <p:cNvSpPr/>
          <p:nvPr/>
        </p:nvSpPr>
        <p:spPr>
          <a:xfrm>
            <a:off x="952500" y="876300"/>
            <a:ext cx="499110" cy="121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b="1" kern="0" spc="25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Laboratorio</a:t>
            </a:r>
            <a:endParaRPr lang="en-US" sz="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4EA01C-9A89-7121-3FD4-09B286E93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162527"/>
            <a:ext cx="10791825" cy="206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87"/>
              </a:lnSpc>
              <a:buNone/>
            </a:pPr>
            <a:r>
              <a:rPr lang="en-US" sz="1380" b="1" i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Clasifica </a:t>
            </a:r>
            <a:r>
              <a:rPr lang="en-US" sz="1380" b="1" i="0" dirty="0" err="1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estos</a:t>
            </a:r>
            <a:r>
              <a:rPr lang="en-US" sz="1380" b="1" i="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380" b="1" i="0" dirty="0" err="1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defectos</a:t>
            </a:r>
            <a:endParaRPr lang="en-US" sz="138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09CE135-1B65-D910-C4F5-88ADA7DBF8F5}"/>
              </a:ext>
            </a:extLst>
          </p:cNvPr>
          <p:cNvSpPr/>
          <p:nvPr/>
        </p:nvSpPr>
        <p:spPr>
          <a:xfrm>
            <a:off x="812800" y="1470341"/>
            <a:ext cx="10791825" cy="12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82"/>
              </a:lnSpc>
            </a:pPr>
            <a:r>
              <a:rPr lang="en-US" sz="630" dirty="0">
                <a:solidFill>
                  <a:srgbClr val="3D47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</a:t>
            </a:r>
            <a:r>
              <a:rPr lang="en-US" sz="800" b="1" dirty="0"/>
              <a:t> https://www.saucedemo.com/</a:t>
            </a:r>
            <a:endParaRPr lang="en-US" sz="63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95AA14EE-3E75-51AE-00C1-418134781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520823"/>
              </p:ext>
            </p:extLst>
          </p:nvPr>
        </p:nvGraphicFramePr>
        <p:xfrm>
          <a:off x="822960" y="1707991"/>
          <a:ext cx="10556240" cy="1819434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40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9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9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210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1"/>
                        </a:lnSpc>
                        <a:buNone/>
                      </a:pPr>
                      <a:r>
                        <a:rPr lang="en-US" sz="965" b="1" dirty="0"/>
                        <a:t>ID</a:t>
                      </a:r>
                      <a:endParaRPr lang="en-US" sz="965" b="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b="1" dirty="0" err="1"/>
                        <a:t>Defecto</a:t>
                      </a:r>
                      <a:endParaRPr lang="en-US" sz="965" b="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b="1" dirty="0"/>
                        <a:t>Severidad</a:t>
                      </a:r>
                      <a:endParaRPr lang="en-US" sz="965" b="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b="1" dirty="0"/>
                        <a:t>Prioridad</a:t>
                      </a:r>
                      <a:endParaRPr lang="en-US" sz="965" b="1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163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1"/>
                        </a:lnSpc>
                        <a:buNone/>
                      </a:pPr>
                      <a:r>
                        <a:rPr lang="en-US" sz="965" dirty="0"/>
                        <a:t>D1</a:t>
                      </a:r>
                      <a:endParaRPr lang="en-US" sz="96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3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Módulo: 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IBM Plex Sans" charset="0"/>
                          <a:ea typeface="IBM Plex Sans" pitchFamily="34" charset="-122"/>
                          <a:cs typeface="IBM Plex Sans" pitchFamily="34" charset="-120"/>
                        </a:rPr>
                        <a:t>Check your information </a:t>
                      </a:r>
                      <a:endParaRPr lang="es-ES" sz="1000" kern="1200" dirty="0">
                        <a:solidFill>
                          <a:schemeClr val="dk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3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Permite el ingreso de caracteres especiales en Nombre, apellido y código postal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endParaRPr lang="en-US" sz="96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Alta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Alta</a:t>
                      </a: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633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1"/>
                        </a:lnSpc>
                        <a:buNone/>
                      </a:pPr>
                      <a:r>
                        <a:rPr lang="en-US" sz="965" dirty="0"/>
                        <a:t>D2</a:t>
                      </a:r>
                      <a:endParaRPr lang="en-US" sz="96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3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65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Módulo: Catálogo de productos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3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65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No permite elegir la cantidad a comprar de un producto </a:t>
                      </a:r>
                      <a:r>
                        <a:rPr lang="en-US" sz="965" dirty="0" err="1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en</a:t>
                      </a:r>
                      <a:r>
                        <a:rPr lang="en-US" sz="965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 el catalogo de productos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Alta</a:t>
                      </a:r>
                    </a:p>
                  </a:txBody>
                  <a:tcPr marL="101600" marR="101600" marT="69850" marB="6985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1"/>
                        </a:lnSpc>
                        <a:buNone/>
                      </a:pPr>
                      <a:r>
                        <a:rPr lang="en-US" sz="965" dirty="0">
                          <a:latin typeface="IBM Plex Sans" charset="0"/>
                          <a:ea typeface="IBM Plex Sans" charset="0"/>
                          <a:cs typeface="IBM Plex Sans" charset="0"/>
                        </a:rPr>
                        <a:t>Alta</a:t>
                      </a:r>
                    </a:p>
                  </a:txBody>
                  <a:tcPr marL="101600" marR="101600" marT="69850" marB="698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>
            <a:extLst>
              <a:ext uri="{FF2B5EF4-FFF2-40B4-BE49-F238E27FC236}">
                <a16:creationId xmlns:a16="http://schemas.microsoft.com/office/drawing/2014/main" id="{687EF4F7-2A6A-0E7A-9941-64C0A954C9FB}"/>
              </a:ext>
            </a:extLst>
          </p:cNvPr>
          <p:cNvSpPr/>
          <p:nvPr/>
        </p:nvSpPr>
        <p:spPr>
          <a:xfrm>
            <a:off x="812800" y="5462110"/>
            <a:ext cx="10566400" cy="379889"/>
          </a:xfrm>
          <a:prstGeom prst="roundRect">
            <a:avLst>
              <a:gd name="adj" fmla="val 23402"/>
            </a:avLst>
          </a:prstGeom>
          <a:solidFill>
            <a:srgbClr val="00B1D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626985E-94A3-7392-F539-663F04B98F7D}"/>
              </a:ext>
            </a:extLst>
          </p:cNvPr>
          <p:cNvSpPr/>
          <p:nvPr/>
        </p:nvSpPr>
        <p:spPr>
          <a:xfrm>
            <a:off x="1016000" y="5601810"/>
            <a:ext cx="10464800" cy="12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82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🔑 Imprescindible:</a:t>
            </a:r>
            <a:r>
              <a:rPr lang="en-US" sz="63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 hay una única respuesta correcta: importa la justificación. Si dos parejas clasifican distinto, discutan qué información faltaba.</a:t>
            </a:r>
            <a:endParaRPr lang="en-US" sz="63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35F8992-9369-4A52-48D5-6D7D77A36F25}"/>
              </a:ext>
            </a:extLst>
          </p:cNvPr>
          <p:cNvSpPr/>
          <p:nvPr/>
        </p:nvSpPr>
        <p:spPr>
          <a:xfrm>
            <a:off x="11078528" y="6118864"/>
            <a:ext cx="6046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B1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Tecsup</a:t>
            </a:r>
            <a:endParaRPr lang="en-US" sz="1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46BC6E3-4D99-7514-F625-008876EF3215}"/>
              </a:ext>
            </a:extLst>
          </p:cNvPr>
          <p:cNvSpPr/>
          <p:nvPr/>
        </p:nvSpPr>
        <p:spPr>
          <a:xfrm>
            <a:off x="11043666" y="6344921"/>
            <a:ext cx="538734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600" b="1" kern="0" spc="150" dirty="0">
                <a:solidFill>
                  <a:srgbClr val="9AA3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VIRTUAL</a:t>
            </a:r>
            <a:endParaRPr lang="en-US" sz="6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1A3A33C0-CE82-4AB4-F6E1-210F7245076F}"/>
              </a:ext>
            </a:extLst>
          </p:cNvPr>
          <p:cNvSpPr/>
          <p:nvPr/>
        </p:nvSpPr>
        <p:spPr>
          <a:xfrm>
            <a:off x="10570528" y="6108700"/>
            <a:ext cx="406400" cy="57150"/>
          </a:xfrm>
          <a:prstGeom prst="rect">
            <a:avLst/>
          </a:prstGeom>
          <a:solidFill>
            <a:srgbClr val="8BD7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967582AE-8F96-18B9-77D2-8F92390094B1}"/>
              </a:ext>
            </a:extLst>
          </p:cNvPr>
          <p:cNvSpPr/>
          <p:nvPr/>
        </p:nvSpPr>
        <p:spPr>
          <a:xfrm>
            <a:off x="10570528" y="6203950"/>
            <a:ext cx="406400" cy="57150"/>
          </a:xfrm>
          <a:prstGeom prst="rect">
            <a:avLst/>
          </a:prstGeom>
          <a:solidFill>
            <a:srgbClr val="8BD7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7266A1C6-475F-3430-0984-C0A1582484DE}"/>
              </a:ext>
            </a:extLst>
          </p:cNvPr>
          <p:cNvSpPr/>
          <p:nvPr/>
        </p:nvSpPr>
        <p:spPr>
          <a:xfrm>
            <a:off x="10573456" y="6299200"/>
            <a:ext cx="215900" cy="57150"/>
          </a:xfrm>
          <a:prstGeom prst="rect">
            <a:avLst/>
          </a:prstGeom>
          <a:solidFill>
            <a:srgbClr val="00B1D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97229A9A-F988-1279-81D0-B29935B02DA7}"/>
              </a:ext>
            </a:extLst>
          </p:cNvPr>
          <p:cNvSpPr/>
          <p:nvPr/>
        </p:nvSpPr>
        <p:spPr>
          <a:xfrm>
            <a:off x="10573456" y="6394450"/>
            <a:ext cx="215900" cy="57150"/>
          </a:xfrm>
          <a:prstGeom prst="rect">
            <a:avLst/>
          </a:prstGeom>
          <a:solidFill>
            <a:srgbClr val="00B1DF"/>
          </a:solidFill>
          <a:ln/>
        </p:spPr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97628304"/>
      </p:ext>
    </p:extLst>
  </p:cSld>
  <p:clrMapOvr>
    <a:masterClrMapping/>
  </p:clrMapOvr>
</p:sld>
</file>

<file path=ppt/theme/theme1.xml><?xml version="1.0" encoding="utf-8"?>
<a:theme xmlns:a="http://schemas.openxmlformats.org/drawingml/2006/main" name="QA Automatizador — Sesión 5: Equivalencia, valores límite, severidad y prioridad">
  <a:themeElements>
    <a:clrScheme name="QA Automatizador — Sesión 5: Equivalencia, valores límite, severidad y prioridad">
      <a:dk1>
        <a:srgbClr val="000000"/>
      </a:dk1>
      <a:lt1>
        <a:srgbClr val="FFFFFF"/>
      </a:lt1>
      <a:dk2>
        <a:srgbClr val="404040"/>
      </a:dk2>
      <a:lt2>
        <a:srgbClr val="E6E6E6"/>
      </a:lt2>
      <a:accent1>
        <a:srgbClr val="00B1DF"/>
      </a:accent1>
      <a:accent2>
        <a:srgbClr val="8BD7E4"/>
      </a:accent2>
      <a:accent3>
        <a:srgbClr val="1E9E5A"/>
      </a:accent3>
      <a:accent4>
        <a:srgbClr val="D64545"/>
      </a:accent4>
      <a:accent5>
        <a:srgbClr val="3D4750"/>
      </a:accent5>
      <a:accent6>
        <a:srgbClr val="6B7680"/>
      </a:accent6>
      <a:hlink>
        <a:srgbClr val="0563C1"/>
      </a:hlink>
      <a:folHlink>
        <a:srgbClr val="954F72"/>
      </a:folHlink>
    </a:clrScheme>
    <a:fontScheme name="QA Automatizador — Sesión 5: Equivalencia, valores límite, severidad y prioridad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1251</TotalTime>
  <Words>711</Words>
  <Application>Microsoft Office PowerPoint</Application>
  <PresentationFormat>Panorámica</PresentationFormat>
  <Paragraphs>128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IBM Plex Sans</vt:lpstr>
      <vt:lpstr>QA Automatizador — Sesión 5: Equivalencia, valores límite, severidad y prioridad</vt:lpstr>
      <vt:lpstr>Casos y defectos sobre un campo de tu proyecto</vt:lpstr>
      <vt:lpstr>Presentación de PowerPoint</vt:lpstr>
      <vt:lpstr>Casos de prueba :Check your information - https://www.saucedemo.com/</vt:lpstr>
      <vt:lpstr>Clasifica estos defectos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Automatizador — Sesión 5: Equivalencia, valores límite, severidad y prioridad</dc:title>
  <dc:subject/>
  <dc:creator/>
  <cp:lastModifiedBy>Jacqueline Barreto Morales</cp:lastModifiedBy>
  <cp:revision>23</cp:revision>
  <dcterms:created xsi:type="dcterms:W3CDTF">2026-10-09T21:39:19Z</dcterms:created>
  <dcterms:modified xsi:type="dcterms:W3CDTF">2026-10-14T23:55:57Z</dcterms:modified>
</cp:coreProperties>
</file>